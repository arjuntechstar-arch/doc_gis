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731520"/>
            <a:ext cx="155448" cy="53492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960120"/>
            <a:ext cx="978408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100" b="1">
                <a:solidFill>
                  <a:srgbClr val="79D4C7"/>
                </a:solidFill>
                <a:latin typeface="Aptos"/>
              </a:rPr>
              <a:t>PROJECT PRESENTATION | 10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875520" cy="10058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Healthcare Atlas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88920"/>
            <a:ext cx="9692640" cy="10058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300" b="0">
                <a:solidFill>
                  <a:srgbClr val="DCE7EF"/>
                </a:solidFill>
                <a:latin typeface="Aptos"/>
              </a:rPr>
              <a:t>GIS and AI decision support for healthcare accessibility and future hospital planning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70432" y="4224528"/>
            <a:ext cx="7909560" cy="603504"/>
          </a:xfrm>
          <a:prstGeom prst="roundRect">
            <a:avLst/>
          </a:prstGeom>
          <a:solidFill>
            <a:srgbClr val="19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4379976"/>
            <a:ext cx="7498079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1">
                <a:solidFill>
                  <a:srgbClr val="FFE0A3"/>
                </a:solidFill>
                <a:latin typeface="Aptos"/>
              </a:rPr>
              <a:t>DEMO SCOPE: fictional districts near Chennai, Tamil Nadu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715000"/>
            <a:ext cx="960120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DCE7EF"/>
                </a:solidFill>
                <a:latin typeface="Aptos"/>
              </a:rPr>
              <a:t>Submitted by: ____________________  |  Institution: ____________________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172200"/>
            <a:ext cx="914400" cy="21945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1100" b="1">
                <a:solidFill>
                  <a:srgbClr val="79D4C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972800" cy="2468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1">
                <a:solidFill>
                  <a:srgbClr val="087E8B"/>
                </a:solidFill>
                <a:latin typeface="Aptos"/>
              </a:rPr>
              <a:t>HEALTHCARE ATLAS · PROJECT EXPLAINER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The planning challenge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01384"/>
            <a:ext cx="11155680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9875520" cy="16459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700" b="0">
                <a:solidFill>
                  <a:srgbClr val="627D98"/>
                </a:solidFill>
                <a:latin typeface="Aptos"/>
              </a:rPr>
              <a:t>SYNTHETIC CHENNAI-AREA STUDY · NOT STATEWIDE OR OBSERVED HEALTH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28816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900" b="1">
                <a:solidFill>
                  <a:srgbClr val="087E8B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4663440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000" b="1">
                <a:solidFill>
                  <a:srgbClr val="102A43"/>
                </a:solidFill>
                <a:latin typeface="Aptos"/>
              </a:rPr>
              <a:t>Access is a network + geography problem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167128"/>
            <a:ext cx="109728" cy="10972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57400"/>
            <a:ext cx="4389120" cy="62179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500" b="0">
                <a:solidFill>
                  <a:srgbClr val="203247"/>
                </a:solidFill>
                <a:latin typeface="Aptos"/>
              </a:rPr>
              <a:t>Facility counts do not describe who can reach care.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990088"/>
            <a:ext cx="109728" cy="10972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80360"/>
            <a:ext cx="4389120" cy="62179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500" b="0">
                <a:solidFill>
                  <a:srgbClr val="203247"/>
                </a:solidFill>
                <a:latin typeface="Aptos"/>
              </a:rPr>
              <a:t>Travel time, capacity, and emergency service affect access.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813048"/>
            <a:ext cx="109728" cy="10972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703320"/>
            <a:ext cx="4389120" cy="62179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500" b="0">
                <a:solidFill>
                  <a:srgbClr val="203247"/>
                </a:solidFill>
                <a:latin typeface="Aptos"/>
              </a:rPr>
              <a:t>Planners need transparent comparisons of future locations.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1508760"/>
            <a:ext cx="5715000" cy="429768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856231"/>
            <a:ext cx="49377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100" b="1">
                <a:solidFill>
                  <a:srgbClr val="79D4C7"/>
                </a:solidFill>
                <a:latin typeface="Aptos"/>
              </a:rPr>
              <a:t>PROJECT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377440"/>
            <a:ext cx="4754880" cy="9601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Turn spatial data into an explainable planning workflow.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3730752"/>
            <a:ext cx="4663440" cy="10058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0">
                <a:solidFill>
                  <a:srgbClr val="DCE7EF"/>
                </a:solidFill>
                <a:latin typeface="Aptos"/>
              </a:rPr>
              <a:t>Measure access  →  forecast demand  →  screen sites  →  compare scenarios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5285232"/>
            <a:ext cx="484632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100" b="1">
                <a:solidFill>
                  <a:srgbClr val="FFE0A3"/>
                </a:solidFill>
                <a:latin typeface="Aptos"/>
              </a:rPr>
              <a:t>Decision support; human review remains essential.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972800" cy="2468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1">
                <a:solidFill>
                  <a:srgbClr val="087E8B"/>
                </a:solidFill>
                <a:latin typeface="Aptos"/>
              </a:rPr>
              <a:t>HEALTHCARE ATLAS · PROJECT EXPLAINER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Project objectives and user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01384"/>
            <a:ext cx="11155680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9875520" cy="16459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700" b="0">
                <a:solidFill>
                  <a:srgbClr val="627D98"/>
                </a:solidFill>
                <a:latin typeface="Aptos"/>
              </a:rPr>
              <a:t>SYNTHETIC CHENNAI-AREA STUDY · NOT STATEWIDE OR OBSERVED HEALTH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28816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900" b="1">
                <a:solidFill>
                  <a:srgbClr val="087E8B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81328"/>
            <a:ext cx="52303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59" y="1691640"/>
            <a:ext cx="566928" cy="56692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457200" cy="21945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728216"/>
            <a:ext cx="393192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Aptos"/>
              </a:rPr>
              <a:t>Measure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231136"/>
            <a:ext cx="3977639" cy="6583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tos"/>
              </a:rPr>
              <a:t>Road travel time and a configurable accessibility index.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81328"/>
            <a:ext cx="52303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1691640"/>
            <a:ext cx="566928" cy="56692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810512"/>
            <a:ext cx="457200" cy="21945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608" y="1728216"/>
            <a:ext cx="393192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Aptos"/>
              </a:rPr>
              <a:t>Forecast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2231136"/>
            <a:ext cx="3977639" cy="6583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tos"/>
              </a:rPr>
              <a:t>Compare demand models with chronological splits.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30168"/>
            <a:ext cx="52303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59" y="3840480"/>
            <a:ext cx="566928" cy="56692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59352"/>
            <a:ext cx="457200" cy="21945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3877056"/>
            <a:ext cx="393192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Aptos"/>
              </a:rPr>
              <a:t>Screen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379976"/>
            <a:ext cx="3977639" cy="6583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tos"/>
              </a:rPr>
              <a:t>Apply access, separation, and land constraints.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630168"/>
            <a:ext cx="5230368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3840480"/>
            <a:ext cx="566928" cy="56692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959352"/>
            <a:ext cx="457200" cy="21945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608" y="3877056"/>
            <a:ext cx="393192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Aptos"/>
              </a:rPr>
              <a:t>Compare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0608" y="4379976"/>
            <a:ext cx="3977639" cy="6583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tos"/>
              </a:rPr>
              <a:t>Optimize sites and quantify before/after changes.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972800" cy="2468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1">
                <a:solidFill>
                  <a:srgbClr val="087E8B"/>
                </a:solidFill>
                <a:latin typeface="Aptos"/>
              </a:rPr>
              <a:t>HEALTHCARE ATLAS · PROJECT EXPLAINER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01384"/>
            <a:ext cx="11155680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9875520" cy="16459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700" b="0">
                <a:solidFill>
                  <a:srgbClr val="627D98"/>
                </a:solidFill>
                <a:latin typeface="Aptos"/>
              </a:rPr>
              <a:t>SYNTHETIC CHENNAI-AREA STUDY · NOT STATEWIDE OR OBSERVED HEALTH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28816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900" b="1">
                <a:solidFill>
                  <a:srgbClr val="087E8B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224028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21408"/>
            <a:ext cx="196596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Angular + Leaflet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42032"/>
            <a:ext cx="1975104" cy="384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000" b="0">
                <a:solidFill>
                  <a:srgbClr val="627D98"/>
                </a:solidFill>
                <a:latin typeface="Aptos"/>
              </a:rPr>
              <a:t>Dashboard · maps ·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82880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0" y="1828800"/>
            <a:ext cx="2240280" cy="9144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2121408"/>
            <a:ext cx="196596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FastAPI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542032"/>
            <a:ext cx="1975104" cy="384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000" b="0">
                <a:solidFill>
                  <a:srgbClr val="627D98"/>
                </a:solidFill>
                <a:latin typeface="Aptos"/>
              </a:rPr>
              <a:t>Auth · API · job queue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182880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29400" y="1828800"/>
            <a:ext cx="2240280" cy="9144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121408"/>
            <a:ext cx="196596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MongoDB GeoJSON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542032"/>
            <a:ext cx="1975104" cy="384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000" b="0">
                <a:solidFill>
                  <a:srgbClr val="627D98"/>
                </a:solidFill>
                <a:latin typeface="Aptos"/>
              </a:rPr>
              <a:t>Records · runs · indexes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388620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60" y="3886200"/>
            <a:ext cx="2240280" cy="91440"/>
          </a:xfrm>
          <a:prstGeom prst="rect">
            <a:avLst/>
          </a:prstGeom>
          <a:solidFill>
            <a:srgbClr val="D6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4178808"/>
            <a:ext cx="196596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ML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4599432"/>
            <a:ext cx="1975104" cy="384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000" b="0">
                <a:solidFill>
                  <a:srgbClr val="627D98"/>
                </a:solidFill>
                <a:latin typeface="Aptos"/>
              </a:rPr>
              <a:t>Train · predict · optimize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926080" y="2450592"/>
            <a:ext cx="731520" cy="0"/>
          </a:xfrm>
          <a:prstGeom prst="line">
            <a:avLst/>
          </a:prstGeom>
          <a:ln w="25400">
            <a:solidFill>
              <a:srgbClr val="0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897880" y="2450592"/>
            <a:ext cx="731520" cy="0"/>
          </a:xfrm>
          <a:prstGeom prst="line">
            <a:avLst/>
          </a:prstGeom>
          <a:ln w="25400">
            <a:solidFill>
              <a:srgbClr val="0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852160" y="2880360"/>
            <a:ext cx="3429000" cy="1371600"/>
          </a:xfrm>
          <a:prstGeom prst="line">
            <a:avLst/>
          </a:prstGeom>
          <a:ln w="25400">
            <a:solidFill>
              <a:srgbClr val="0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22960" y="4041648"/>
            <a:ext cx="7772400" cy="10515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251960"/>
            <a:ext cx="731520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tos"/>
              </a:rPr>
              <a:t>Asynchronous workflow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636008"/>
            <a:ext cx="731520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100" b="0">
                <a:solidFill>
                  <a:srgbClr val="627D98"/>
                </a:solidFill>
                <a:latin typeface="Aptos"/>
              </a:rPr>
              <a:t>QUEUED → RUNNING → COMPLETED / FAILED / CANCELLED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541264"/>
            <a:ext cx="1042416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100" b="0">
                <a:solidFill>
                  <a:srgbClr val="203247"/>
                </a:solidFill>
                <a:latin typeface="Aptos"/>
              </a:rPr>
              <a:t>Spatial data and job results flow through the API; the browser never accesses MongoDB directly.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972800" cy="2468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1">
                <a:solidFill>
                  <a:srgbClr val="087E8B"/>
                </a:solidFill>
                <a:latin typeface="Aptos"/>
              </a:rPr>
              <a:t>HEALTHCARE ATLAS · PROJECT EXPLAINER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End-to-end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01384"/>
            <a:ext cx="11155680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9875520" cy="16459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700" b="0">
                <a:solidFill>
                  <a:srgbClr val="627D98"/>
                </a:solidFill>
                <a:latin typeface="Aptos"/>
              </a:rPr>
              <a:t>SYNTHETIC CHENNAI-AREA STUDY · NOT STATEWIDE OR OBSERVED HEALTH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28816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900" b="1">
                <a:solidFill>
                  <a:srgbClr val="087E8B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21031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" y="2176272"/>
            <a:ext cx="475488" cy="47548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67712"/>
            <a:ext cx="402336" cy="2011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852928"/>
            <a:ext cx="182880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3310128"/>
            <a:ext cx="1810512" cy="7132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100" b="0">
                <a:solidFill>
                  <a:srgbClr val="627D98"/>
                </a:solidFill>
                <a:latin typeface="Aptos"/>
              </a:rPr>
              <a:t>Zones, facilities, roads, boundaries, demand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06039" y="3063240"/>
            <a:ext cx="228600" cy="0"/>
          </a:xfrm>
          <a:prstGeom prst="line">
            <a:avLst/>
          </a:prstGeom>
          <a:ln>
            <a:solidFill>
              <a:srgbClr val="F2B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62072" y="1965960"/>
            <a:ext cx="21031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08376" y="2176272"/>
            <a:ext cx="475488" cy="47548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2267712"/>
            <a:ext cx="402336" cy="2011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8376" y="2852928"/>
            <a:ext cx="182880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Measure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8376" y="3310128"/>
            <a:ext cx="1810512" cy="7132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100" b="0">
                <a:solidFill>
                  <a:srgbClr val="627D98"/>
                </a:solidFill>
                <a:latin typeface="Aptos"/>
              </a:rPr>
              <a:t>Travel time + population/capacity/emergency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65192" y="3063240"/>
            <a:ext cx="228600" cy="0"/>
          </a:xfrm>
          <a:prstGeom prst="line">
            <a:avLst/>
          </a:prstGeom>
          <a:ln>
            <a:solidFill>
              <a:srgbClr val="F2B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221224" y="1965960"/>
            <a:ext cx="21031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67528" y="2176272"/>
            <a:ext cx="475488" cy="47548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04104" y="2267712"/>
            <a:ext cx="402336" cy="2011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2852928"/>
            <a:ext cx="182880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Learn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8" y="3310128"/>
            <a:ext cx="1810512" cy="7132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100" b="0">
                <a:solidFill>
                  <a:srgbClr val="627D98"/>
                </a:solidFill>
                <a:latin typeface="Aptos"/>
              </a:rPr>
              <a:t>Temporal split; compare three models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24344" y="3063240"/>
            <a:ext cx="228600" cy="0"/>
          </a:xfrm>
          <a:prstGeom prst="line">
            <a:avLst/>
          </a:prstGeom>
          <a:ln>
            <a:solidFill>
              <a:srgbClr val="F2B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80376" y="1965960"/>
            <a:ext cx="21031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26680" y="2176272"/>
            <a:ext cx="475488" cy="47548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63256" y="2267712"/>
            <a:ext cx="402336" cy="2011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2852928"/>
            <a:ext cx="182880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Generate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310128"/>
            <a:ext cx="1810512" cy="7132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100" b="0">
                <a:solidFill>
                  <a:srgbClr val="627D98"/>
                </a:solidFill>
                <a:latin typeface="Aptos"/>
              </a:rPr>
              <a:t>Forecast → constraints → candidate points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683496" y="3063240"/>
            <a:ext cx="228600" cy="0"/>
          </a:xfrm>
          <a:prstGeom prst="line">
            <a:avLst/>
          </a:prstGeom>
          <a:ln>
            <a:solidFill>
              <a:srgbClr val="F2B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939528" y="1965960"/>
            <a:ext cx="21031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85832" y="2176272"/>
            <a:ext cx="475488" cy="47548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22408" y="2267712"/>
            <a:ext cx="402336" cy="20116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85832" y="2852928"/>
            <a:ext cx="182880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Optimize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85832" y="3310128"/>
            <a:ext cx="1810512" cy="7132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100" b="0">
                <a:solidFill>
                  <a:srgbClr val="627D98"/>
                </a:solidFill>
                <a:latin typeface="Aptos"/>
              </a:rPr>
              <a:t>Select sites; recompute access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4800600"/>
            <a:ext cx="10744200" cy="749808"/>
          </a:xfrm>
          <a:prstGeom prst="roundRect">
            <a:avLst/>
          </a:prstGeom>
          <a:solidFill>
            <a:srgbClr val="FFF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" y="5010912"/>
            <a:ext cx="1014984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203247"/>
                </a:solidFill>
                <a:latin typeface="Aptos"/>
              </a:rPr>
              <a:t>Accessibility score weights distance, travel time, capacity, and emergency service.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972800" cy="2468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1">
                <a:solidFill>
                  <a:srgbClr val="087E8B"/>
                </a:solidFill>
                <a:latin typeface="Aptos"/>
              </a:rPr>
              <a:t>HEALTHCARE ATLAS · PROJECT EXPLAINER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Demo data and geographic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01384"/>
            <a:ext cx="11155680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9875520" cy="16459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700" b="0">
                <a:solidFill>
                  <a:srgbClr val="627D98"/>
                </a:solidFill>
                <a:latin typeface="Aptos"/>
              </a:rPr>
              <a:t>SYNTHETIC CHENNAI-AREA STUDY · NOT STATEWIDE OR OBSERVED HEALTH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28816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900" b="1">
                <a:solidFill>
                  <a:srgbClr val="087E8B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54480"/>
            <a:ext cx="64008" cy="141732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00784"/>
            <a:ext cx="2331720" cy="23774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1">
                <a:solidFill>
                  <a:srgbClr val="627D98"/>
                </a:solidFill>
                <a:latin typeface="Aptos"/>
              </a:rPr>
              <a:t>POPULATION ZONES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29967"/>
            <a:ext cx="2331720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300" b="1">
                <a:solidFill>
                  <a:srgbClr val="102A43"/>
                </a:solidFill>
                <a:latin typeface="Aptos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560320"/>
            <a:ext cx="233172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tos"/>
              </a:rPr>
              <a:t>fictional study areas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8728" y="155448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1554480"/>
            <a:ext cx="64008" cy="141732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1700784"/>
            <a:ext cx="2331720" cy="23774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1">
                <a:solidFill>
                  <a:srgbClr val="627D98"/>
                </a:solidFill>
                <a:latin typeface="Aptos"/>
              </a:rPr>
              <a:t>FACILITIES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029967"/>
            <a:ext cx="2331720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300" b="1">
                <a:solidFill>
                  <a:srgbClr val="102A43"/>
                </a:solidFill>
                <a:latin typeface="Apto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560320"/>
            <a:ext cx="233172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tos"/>
              </a:rPr>
              <a:t>synthetic hospitals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19088" y="155448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19088" y="1554480"/>
            <a:ext cx="64008" cy="141732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1700784"/>
            <a:ext cx="2331720" cy="23774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1">
                <a:solidFill>
                  <a:srgbClr val="627D98"/>
                </a:solidFill>
                <a:latin typeface="Aptos"/>
              </a:rPr>
              <a:t>ROAD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2029967"/>
            <a:ext cx="2331720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300" b="1">
                <a:solidFill>
                  <a:srgbClr val="102A43"/>
                </a:solidFill>
                <a:latin typeface="Aptos"/>
              </a:rPr>
              <a:t>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2560320"/>
            <a:ext cx="233172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tos"/>
              </a:rPr>
              <a:t>connected synthetic network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99448" y="155448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99448" y="1554480"/>
            <a:ext cx="64008" cy="1417320"/>
          </a:xfrm>
          <a:prstGeom prst="rect">
            <a:avLst/>
          </a:prstGeom>
          <a:solidFill>
            <a:srgbClr val="D6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1700784"/>
            <a:ext cx="2331720" cy="23774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1">
                <a:solidFill>
                  <a:srgbClr val="627D98"/>
                </a:solidFill>
                <a:latin typeface="Aptos"/>
              </a:rPr>
              <a:t>DEMAND 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2029967"/>
            <a:ext cx="2331720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300" b="1">
                <a:solidFill>
                  <a:srgbClr val="102A43"/>
                </a:solidFill>
                <a:latin typeface="Aptos"/>
              </a:rPr>
              <a:t>224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2560320"/>
            <a:ext cx="233172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tos"/>
              </a:rPr>
              <a:t>annual synthetic histories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3364992"/>
            <a:ext cx="10698480" cy="1426464"/>
          </a:xfrm>
          <a:prstGeom prst="roundRect">
            <a:avLst/>
          </a:prstGeom>
          <a:solidFill>
            <a:srgbClr val="FFF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3602736"/>
            <a:ext cx="1005840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tos"/>
              </a:rPr>
              <a:t>Geographic claim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014215"/>
            <a:ext cx="10058400" cy="62179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0">
                <a:solidFill>
                  <a:srgbClr val="203247"/>
                </a:solidFill>
                <a:latin typeface="Aptos"/>
              </a:rPr>
              <a:t>Fictional study zones cluster near Chennai. Not all of Tamil Nadu, not official boundaries, and not observed data.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257800"/>
            <a:ext cx="10332720" cy="7132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tos"/>
              </a:rPr>
              <a:t>Inputs include polygon zones, age profiles, road speeds, facilities, exclusions, and deterministic demand values (2012–2025).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972800" cy="2468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1">
                <a:solidFill>
                  <a:srgbClr val="087E8B"/>
                </a:solidFill>
                <a:latin typeface="Aptos"/>
              </a:rPr>
              <a:t>HEALTHCARE ATLAS · PROJECT EXPLAINER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Demand model: synthetic-data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01384"/>
            <a:ext cx="11155680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9875520" cy="16459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700" b="0">
                <a:solidFill>
                  <a:srgbClr val="627D98"/>
                </a:solidFill>
                <a:latin typeface="Aptos"/>
              </a:rPr>
              <a:t>SYNTHETIC CHENNAI-AREA STUDY · NOT STATEWIDE OR OBSERVED HEALTH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28816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900" b="1">
                <a:solidFill>
                  <a:srgbClr val="087E8B"/>
                </a:solidFill>
                <a:latin typeface="Aptos"/>
              </a:rPr>
              <a:t>07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508760"/>
          <a:ext cx="672084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168"/>
                <a:gridCol w="1344168"/>
                <a:gridCol w="1344168"/>
                <a:gridCol w="1344168"/>
                <a:gridCol w="1344168"/>
              </a:tblGrid>
              <a:tr h="56007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Held-out test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MAPE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03247"/>
                          </a:solidFill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3247"/>
                          </a:solidFill>
                        </a:defRPr>
                      </a:pPr>
                      <a:r>
                        <a:t>47.40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3247"/>
                          </a:solidFill>
                        </a:defRPr>
                      </a:pPr>
                      <a:r>
                        <a:t>58.47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3247"/>
                          </a:solidFill>
                        </a:defRPr>
                      </a:pPr>
                      <a:r>
                        <a:t>0.994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3247"/>
                          </a:solidFill>
                        </a:defRPr>
                      </a:pPr>
                      <a:r>
                        <a:t>2.18%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03247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3247"/>
                          </a:solidFill>
                        </a:defRPr>
                      </a:pPr>
                      <a:r>
                        <a:t>91.77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3247"/>
                          </a:solidFill>
                        </a:defRPr>
                      </a:pPr>
                      <a:r>
                        <a:t>133.02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3247"/>
                          </a:solidFill>
                        </a:defRPr>
                      </a:pPr>
                      <a:r>
                        <a:t>0.972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3247"/>
                          </a:solidFill>
                        </a:defRPr>
                      </a:pPr>
                      <a:r>
                        <a:t>3.94%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03247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3247"/>
                          </a:solidFill>
                        </a:defRPr>
                      </a:pPr>
                      <a:r>
                        <a:t>100.21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3247"/>
                          </a:solidFill>
                        </a:defRPr>
                      </a:pPr>
                      <a:r>
                        <a:t>132.43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3247"/>
                          </a:solidFill>
                        </a:defRPr>
                      </a:pPr>
                      <a:r>
                        <a:t>0.972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03247"/>
                          </a:solidFill>
                        </a:defRPr>
                      </a:pPr>
                      <a:r>
                        <a:t>4.47%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26679" y="1627632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627632"/>
            <a:ext cx="64008" cy="141732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91271" y="1773936"/>
            <a:ext cx="3246120" cy="23774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1">
                <a:solidFill>
                  <a:srgbClr val="627D98"/>
                </a:solidFill>
                <a:latin typeface="Aptos"/>
              </a:rPr>
              <a:t>SELECTED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1271" y="2103120"/>
            <a:ext cx="3246120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300" b="1">
                <a:solidFill>
                  <a:srgbClr val="102A43"/>
                </a:solidFill>
                <a:latin typeface="Aptos"/>
              </a:rPr>
              <a:t>Linear regression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1" y="2633472"/>
            <a:ext cx="324612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tos"/>
              </a:rPr>
              <a:t>208 rows · selected by validation RMSE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310128"/>
            <a:ext cx="3520440" cy="1417320"/>
          </a:xfrm>
          <a:prstGeom prst="roundRect">
            <a:avLst/>
          </a:prstGeom>
          <a:solidFill>
            <a:srgbClr val="FFF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3557016"/>
            <a:ext cx="292608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000" b="1">
                <a:solidFill>
                  <a:srgbClr val="102A43"/>
                </a:solidFill>
                <a:latin typeface="Aptos"/>
              </a:rPr>
              <a:t>TEMPORAL HOLDOUT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8" y="3941063"/>
            <a:ext cx="2926080" cy="6126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203247"/>
                </a:solidFill>
                <a:latin typeface="Aptos"/>
              </a:rPr>
              <a:t>Train 2013–19
Validate 2020–22 · Test 2023–25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06240"/>
            <a:ext cx="10424160" cy="8046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1">
                <a:solidFill>
                  <a:srgbClr val="D66A5C"/>
                </a:solidFill>
                <a:latin typeface="Aptos"/>
              </a:rPr>
              <a:t>Strong fit here only reflects deterministic synthetic data. It is not evidence of clinical validity or accuracy on real populations.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972800" cy="2468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1">
                <a:solidFill>
                  <a:srgbClr val="087E8B"/>
                </a:solidFill>
                <a:latin typeface="Aptos"/>
              </a:rPr>
              <a:t>HEALTHCARE ATLAS · PROJECT EXPLAINER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Baseline accessibility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01384"/>
            <a:ext cx="11155680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9875520" cy="16459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700" b="0">
                <a:solidFill>
                  <a:srgbClr val="627D98"/>
                </a:solidFill>
                <a:latin typeface="Aptos"/>
              </a:rPr>
              <a:t>SYNTHETIC CHENNAI-AREA STUDY · NOT STATEWIDE OR OBSERVED HEALTH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28816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900" b="1">
                <a:solidFill>
                  <a:srgbClr val="087E8B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2651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63040"/>
            <a:ext cx="64008" cy="141732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609344"/>
            <a:ext cx="2377440" cy="23774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1">
                <a:solidFill>
                  <a:srgbClr val="627D98"/>
                </a:solidFill>
                <a:latin typeface="Aptos"/>
              </a:rPr>
              <a:t>MODELED POPULATION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1938528"/>
            <a:ext cx="2377440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300" b="1">
                <a:solidFill>
                  <a:srgbClr val="102A43"/>
                </a:solidFill>
                <a:latin typeface="Aptos"/>
              </a:rPr>
              <a:t>260,500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468880"/>
            <a:ext cx="237744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tos"/>
              </a:rPr>
              <a:t>synthetic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463040"/>
            <a:ext cx="2651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1463040"/>
            <a:ext cx="64008" cy="141732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0752" y="1609344"/>
            <a:ext cx="2377440" cy="23774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1">
                <a:solidFill>
                  <a:srgbClr val="627D98"/>
                </a:solidFill>
                <a:latin typeface="Aptos"/>
              </a:rPr>
              <a:t>MEAN TRAVEL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1938528"/>
            <a:ext cx="2377440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300" b="1">
                <a:solidFill>
                  <a:srgbClr val="102A43"/>
                </a:solidFill>
                <a:latin typeface="Aptos"/>
              </a:rPr>
              <a:t>8.73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2468880"/>
            <a:ext cx="237744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tos"/>
              </a:rPr>
              <a:t>road graph + access leg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19088" y="1463040"/>
            <a:ext cx="2651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19088" y="1463040"/>
            <a:ext cx="64008" cy="141732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1609344"/>
            <a:ext cx="2377440" cy="23774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1">
                <a:solidFill>
                  <a:srgbClr val="627D98"/>
                </a:solidFill>
                <a:latin typeface="Aptos"/>
              </a:rPr>
              <a:t>MEAN ACCESS 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1938528"/>
            <a:ext cx="2377440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300" b="1">
                <a:solidFill>
                  <a:srgbClr val="102A43"/>
                </a:solidFill>
                <a:latin typeface="Aptos"/>
              </a:rPr>
              <a:t>0.867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2468880"/>
            <a:ext cx="237744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tos"/>
              </a:rPr>
              <a:t>composite score 0–1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72016" y="1463040"/>
            <a:ext cx="2194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72016" y="1463040"/>
            <a:ext cx="64008" cy="1417320"/>
          </a:xfrm>
          <a:prstGeom prst="rect">
            <a:avLst/>
          </a:prstGeom>
          <a:solidFill>
            <a:srgbClr val="D6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36608" y="1609344"/>
            <a:ext cx="1920240" cy="23774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1">
                <a:solidFill>
                  <a:srgbClr val="627D98"/>
                </a:solidFill>
                <a:latin typeface="Aptos"/>
              </a:rPr>
              <a:t>COVERAGE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6608" y="1938528"/>
            <a:ext cx="1920240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300" b="1">
                <a:solidFill>
                  <a:srgbClr val="102A43"/>
                </a:solidFill>
                <a:latin typeface="Aptos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468880"/>
            <a:ext cx="192024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tos"/>
              </a:rPr>
              <a:t>within 30 min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3246120"/>
            <a:ext cx="106527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3493008"/>
            <a:ext cx="996696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tos"/>
              </a:rPr>
              <a:t>Accessibility classification across synthetic zones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" y="4041648"/>
            <a:ext cx="8098155" cy="329184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4416552"/>
            <a:ext cx="8098155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/>
            <a:r>
              <a:rPr sz="900" b="1">
                <a:solidFill>
                  <a:srgbClr val="203247"/>
                </a:solidFill>
                <a:latin typeface="Aptos"/>
              </a:rPr>
              <a:t>Good: 13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9715" y="4041648"/>
            <a:ext cx="1868805" cy="329184"/>
          </a:xfrm>
          <a:prstGeom prst="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9715" y="4416552"/>
            <a:ext cx="1868805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/>
            <a:r>
              <a:rPr sz="900" b="1">
                <a:solidFill>
                  <a:srgbClr val="203247"/>
                </a:solidFill>
                <a:latin typeface="Aptos"/>
              </a:rPr>
              <a:t>Moderate: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285232"/>
            <a:ext cx="10424160" cy="7132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tos"/>
              </a:rPr>
              <a:t>100% threshold coverage reflects this small connected demo network and is not a statewide finding.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972800" cy="2468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1">
                <a:solidFill>
                  <a:srgbClr val="087E8B"/>
                </a:solidFill>
                <a:latin typeface="Aptos"/>
              </a:rPr>
              <a:t>HEALTHCARE ATLAS · PROJECT EXPLAINER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Candidate generation and constraints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01384"/>
            <a:ext cx="11155680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9875520" cy="16459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700" b="0">
                <a:solidFill>
                  <a:srgbClr val="627D98"/>
                </a:solidFill>
                <a:latin typeface="Aptos"/>
              </a:rPr>
              <a:t>SYNTHETIC CHENNAI-AREA STUDY · NOT STATEWIDE OR OBSERVED HEALTH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28816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900" b="1">
                <a:solidFill>
                  <a:srgbClr val="087E8B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2834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64008" cy="141732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55063"/>
            <a:ext cx="2560320" cy="23774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1">
                <a:solidFill>
                  <a:srgbClr val="627D98"/>
                </a:solidFill>
                <a:latin typeface="Aptos"/>
              </a:rPr>
              <a:t>FEASIBLE DEMO SITES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984248"/>
            <a:ext cx="2560320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300" b="1">
                <a:solidFill>
                  <a:srgbClr val="102A43"/>
                </a:solidFill>
                <a:latin typeface="Aptos"/>
              </a:rPr>
              <a:t>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514600"/>
            <a:ext cx="256032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tos"/>
              </a:rPr>
              <a:t>grid candidates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1508760"/>
            <a:ext cx="73609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87952" y="1810512"/>
            <a:ext cx="640080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700" b="1">
                <a:solidFill>
                  <a:srgbClr val="102A43"/>
                </a:solidFill>
                <a:latin typeface="Aptos"/>
              </a:rPr>
              <a:t>Screening sequence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2404872"/>
            <a:ext cx="100584" cy="100584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2" y="2331720"/>
            <a:ext cx="640080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203247"/>
                </a:solidFill>
                <a:latin typeface="Aptos"/>
              </a:rPr>
              <a:t>Population and predicted-demand thresholds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24528" y="2862072"/>
            <a:ext cx="100584" cy="100584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2" y="2788920"/>
            <a:ext cx="640080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203247"/>
                </a:solidFill>
                <a:latin typeface="Aptos"/>
              </a:rPr>
              <a:t>Minimum distance from existing hospitals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24528" y="3319272"/>
            <a:ext cx="100584" cy="100584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2272" y="3246120"/>
            <a:ext cx="640080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203247"/>
                </a:solidFill>
                <a:latin typeface="Aptos"/>
              </a:rPr>
              <a:t>Study boundary inclusion; water/protected exclusions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24528" y="3776472"/>
            <a:ext cx="100584" cy="100584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3703320"/>
            <a:ext cx="640080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203247"/>
                </a:solidFill>
                <a:latin typeface="Aptos"/>
              </a:rPr>
              <a:t>Road-access score and grid spacing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24528" y="4233672"/>
            <a:ext cx="100584" cy="100584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2272" y="4160520"/>
            <a:ext cx="640080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203247"/>
                </a:solidFill>
                <a:latin typeface="Aptos"/>
              </a:rPr>
              <a:t>Equal site costs assumed; parcel prices absent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3337560"/>
            <a:ext cx="2834640" cy="160020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602736"/>
            <a:ext cx="2286000" cy="2560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000" b="1">
                <a:solidFill>
                  <a:srgbClr val="087E8B"/>
                </a:solidFill>
                <a:latin typeface="Aptos"/>
              </a:rPr>
              <a:t>SITE 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977639"/>
            <a:ext cx="2267712" cy="6858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203247"/>
                </a:solidFill>
                <a:latin typeface="Aptos"/>
              </a:rPr>
              <a:t>Candidates are not surveyed or verified parcels.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5285232"/>
            <a:ext cx="10332720" cy="6400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627D98"/>
                </a:solidFill>
                <a:latin typeface="Aptos"/>
              </a:rPr>
              <a:t>Geometry and thresholds do not replace land, environmental, transport, engineering, cost, or legal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972800" cy="2468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1">
                <a:solidFill>
                  <a:srgbClr val="087E8B"/>
                </a:solidFill>
                <a:latin typeface="Aptos"/>
              </a:rPr>
              <a:t>HEALTHCARE ATLAS · PROJECT EXPLAINER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Three-hospital scenario: modeled before /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01384"/>
            <a:ext cx="11155680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9875520" cy="16459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700" b="0">
                <a:solidFill>
                  <a:srgbClr val="627D98"/>
                </a:solidFill>
                <a:latin typeface="Aptos"/>
              </a:rPr>
              <a:t>SYNTHETIC CHENNAI-AREA STUDY · NOT STATEWIDE OR OBSERVED HEALTH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28816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900" b="1">
                <a:solidFill>
                  <a:srgbClr val="087E8B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389888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389888"/>
            <a:ext cx="64008" cy="141732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36192"/>
            <a:ext cx="2468880" cy="23774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1">
                <a:solidFill>
                  <a:srgbClr val="627D98"/>
                </a:solidFill>
                <a:latin typeface="Aptos"/>
              </a:rPr>
              <a:t>MEAN TRAVEL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65376"/>
            <a:ext cx="2468880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300" b="1">
                <a:solidFill>
                  <a:srgbClr val="102A43"/>
                </a:solidFill>
                <a:latin typeface="Aptos"/>
              </a:rPr>
              <a:t>8.73 → 6.67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95728"/>
            <a:ext cx="246888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tos"/>
              </a:rPr>
              <a:t>modeled, not measured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75887" y="1389888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75887" y="1389888"/>
            <a:ext cx="64008" cy="141732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79" y="1536192"/>
            <a:ext cx="2468880" cy="23774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1">
                <a:solidFill>
                  <a:srgbClr val="627D98"/>
                </a:solidFill>
                <a:latin typeface="Aptos"/>
              </a:rPr>
              <a:t>MEAN ACCESS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79" y="1865376"/>
            <a:ext cx="2468880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300" b="1">
                <a:solidFill>
                  <a:srgbClr val="102A43"/>
                </a:solidFill>
                <a:latin typeface="Aptos"/>
              </a:rPr>
              <a:t>0.867 → 0.905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79" y="2395728"/>
            <a:ext cx="246888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tos"/>
              </a:rPr>
              <a:t>composite score 0–1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01968" y="1389888"/>
            <a:ext cx="2286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1968" y="1389888"/>
            <a:ext cx="64008" cy="141732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59" y="1536192"/>
            <a:ext cx="2011680" cy="23774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1">
                <a:solidFill>
                  <a:srgbClr val="627D98"/>
                </a:solidFill>
                <a:latin typeface="Aptos"/>
              </a:rPr>
              <a:t>FEASIBLE CANDIDATES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59" y="1865376"/>
            <a:ext cx="2011680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300" b="1">
                <a:solidFill>
                  <a:srgbClr val="102A43"/>
                </a:solidFill>
                <a:latin typeface="Aptos"/>
              </a:rPr>
              <a:t>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59" y="2395728"/>
            <a:ext cx="201168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tos"/>
              </a:rPr>
              <a:t>three selected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70848" y="1389888"/>
            <a:ext cx="2286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70848" y="1389888"/>
            <a:ext cx="64008" cy="1417320"/>
          </a:xfrm>
          <a:prstGeom prst="rect">
            <a:avLst/>
          </a:prstGeom>
          <a:solidFill>
            <a:srgbClr val="D6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1536192"/>
            <a:ext cx="2011680" cy="23774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1">
                <a:solidFill>
                  <a:srgbClr val="627D98"/>
                </a:solidFill>
                <a:latin typeface="Aptos"/>
              </a:rPr>
              <a:t>RELATIVE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1865376"/>
            <a:ext cx="2011680" cy="457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300" b="1">
                <a:solidFill>
                  <a:srgbClr val="102A43"/>
                </a:solidFill>
                <a:latin typeface="Aptos"/>
              </a:rPr>
              <a:t>3 units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395728"/>
            <a:ext cx="201168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tos"/>
              </a:rPr>
              <a:t>assumed cost/site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182112"/>
            <a:ext cx="484632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1">
                <a:solidFill>
                  <a:srgbClr val="102A43"/>
                </a:solidFill>
                <a:latin typeface="Aptos"/>
              </a:rPr>
              <a:t>Mean road travel time (minutes)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3639312"/>
            <a:ext cx="804672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tos"/>
              </a:rPr>
              <a:t>Before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92224" y="3657600"/>
            <a:ext cx="2754263" cy="201168"/>
          </a:xfrm>
          <a:prstGeom prst="roundRect">
            <a:avLst/>
          </a:prstGeom>
          <a:solidFill>
            <a:srgbClr val="627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56631" y="3611880"/>
            <a:ext cx="658368" cy="2560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1000" b="1">
                <a:solidFill>
                  <a:srgbClr val="203247"/>
                </a:solidFill>
                <a:latin typeface="Aptos"/>
              </a:rPr>
              <a:t>8.73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4114800"/>
            <a:ext cx="804672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tos"/>
              </a:rPr>
              <a:t>After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792224" y="4133087"/>
            <a:ext cx="2104641" cy="20116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56631" y="4087368"/>
            <a:ext cx="658368" cy="2560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1000" b="1">
                <a:solidFill>
                  <a:srgbClr val="203247"/>
                </a:solidFill>
                <a:latin typeface="Aptos"/>
              </a:rPr>
              <a:t>6.67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182112"/>
            <a:ext cx="484632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1">
                <a:solidFill>
                  <a:srgbClr val="102A43"/>
                </a:solidFill>
                <a:latin typeface="Aptos"/>
              </a:rPr>
              <a:t>Mean accessibility index (0–1)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3639312"/>
            <a:ext cx="804672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tos"/>
              </a:rPr>
              <a:t>Before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51192" y="3657600"/>
            <a:ext cx="2733650" cy="201168"/>
          </a:xfrm>
          <a:prstGeom prst="roundRect">
            <a:avLst/>
          </a:prstGeom>
          <a:solidFill>
            <a:srgbClr val="627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0" y="3611880"/>
            <a:ext cx="658368" cy="2560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1000" b="1">
                <a:solidFill>
                  <a:srgbClr val="203247"/>
                </a:solidFill>
                <a:latin typeface="Aptos"/>
              </a:rPr>
              <a:t>0.87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114800"/>
            <a:ext cx="804672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0">
                <a:solidFill>
                  <a:srgbClr val="627D98"/>
                </a:solidFill>
                <a:latin typeface="Aptos"/>
              </a:rPr>
              <a:t>After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51192" y="4133087"/>
            <a:ext cx="2853939" cy="201168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0" y="4087368"/>
            <a:ext cx="658368" cy="25603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1000" b="1">
                <a:solidFill>
                  <a:srgbClr val="203247"/>
                </a:solidFill>
                <a:latin typeface="Aptos"/>
              </a:rPr>
              <a:t>0.90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" y="4956048"/>
            <a:ext cx="10149840" cy="80467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1">
                <a:solidFill>
                  <a:srgbClr val="203247"/>
                </a:solidFill>
                <a:latin typeface="Aptos"/>
              </a:rPr>
              <a:t>Coverage remained 100% at the 30-minute threshold. Modeled mean travel time fell 23.6%; the genetic algorithm is heuristic, not a global-optimality proof.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972800" cy="2468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1">
                <a:solidFill>
                  <a:srgbClr val="087E8B"/>
                </a:solidFill>
                <a:latin typeface="Aptos"/>
              </a:rPr>
              <a:t>HEALTHCARE ATLAS · PROJECT EXPLAINER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Working application and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01384"/>
            <a:ext cx="11155680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9875520" cy="16459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700" b="0">
                <a:solidFill>
                  <a:srgbClr val="627D98"/>
                </a:solidFill>
                <a:latin typeface="Aptos"/>
              </a:rPr>
              <a:t>SYNTHETIC CHENNAI-AREA STUDY · NOT STATEWIDE OR OBSERVED HEALTH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28816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900" b="1">
                <a:solidFill>
                  <a:srgbClr val="087E8B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1481328"/>
            <a:ext cx="347472" cy="347472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545336"/>
            <a:ext cx="27432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463040"/>
            <a:ext cx="274320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Interactive Web GIS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463040"/>
            <a:ext cx="685800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203247"/>
                </a:solidFill>
                <a:latin typeface="Aptos"/>
              </a:rPr>
              <a:t>Dashboards, layers, maps, and role-aware screens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" y="2359152"/>
            <a:ext cx="347472" cy="347472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423160"/>
            <a:ext cx="27432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340864"/>
            <a:ext cx="274320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Secure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340864"/>
            <a:ext cx="685800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203247"/>
                </a:solidFill>
                <a:latin typeface="Aptos"/>
              </a:rPr>
              <a:t>JWT sign-in, role permissions, validation, audit events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" y="3236976"/>
            <a:ext cx="347472" cy="347472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300984"/>
            <a:ext cx="27432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218688"/>
            <a:ext cx="274320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Long-running jobs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3218688"/>
            <a:ext cx="685800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203247"/>
                </a:solidFill>
                <a:latin typeface="Aptos"/>
              </a:rPr>
              <a:t>Queued operations with progress and analysis history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4114800"/>
            <a:ext cx="347472" cy="347472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178808"/>
            <a:ext cx="27432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096512"/>
            <a:ext cx="2743200" cy="310896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Outputs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096512"/>
            <a:ext cx="685800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203247"/>
                </a:solidFill>
                <a:latin typeface="Aptos"/>
              </a:rPr>
              <a:t>Recommendations and CSV / GeoJSON / PDF exports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285232"/>
            <a:ext cx="10652760" cy="566928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5431536"/>
            <a:ext cx="1014984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100" b="1">
                <a:solidFill>
                  <a:srgbClr val="087E8B"/>
                </a:solidFill>
                <a:latin typeface="Aptos"/>
              </a:rPr>
              <a:t>Build passed · 3 frontend tests passed · frontend/API/ML health checks passed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972800" cy="24688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900" b="1">
                <a:solidFill>
                  <a:srgbClr val="087E8B"/>
                </a:solidFill>
                <a:latin typeface="Aptos"/>
              </a:rPr>
              <a:t>HEALTHCARE ATLAS · PROJECT EXPLAINER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Limitations, responsible use,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01384"/>
            <a:ext cx="11155680" cy="13716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9875520" cy="16459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700" b="0">
                <a:solidFill>
                  <a:srgbClr val="627D98"/>
                </a:solidFill>
                <a:latin typeface="Aptos"/>
              </a:rPr>
              <a:t>SYNTHETIC CHENNAI-AREA STUDY · NOT STATEWIDE OR OBSERVED HEALTH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28816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900" b="1">
                <a:solidFill>
                  <a:srgbClr val="087E8B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44752"/>
            <a:ext cx="5257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4572000" cy="51206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What the demo does not establish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2496312"/>
            <a:ext cx="100584" cy="100584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2423160"/>
            <a:ext cx="443484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203247"/>
                </a:solidFill>
                <a:latin typeface="Aptos"/>
              </a:rPr>
              <a:t>Real demand or prediction 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3209544"/>
            <a:ext cx="100584" cy="100584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3136391"/>
            <a:ext cx="443484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203247"/>
                </a:solidFill>
                <a:latin typeface="Aptos"/>
              </a:rPr>
              <a:t>Statewide coverage or official boundaries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922776"/>
            <a:ext cx="100584" cy="100584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3849624"/>
            <a:ext cx="443484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203247"/>
                </a:solidFill>
                <a:latin typeface="Aptos"/>
              </a:rPr>
              <a:t>Parcel availability, cost, permits, feasibility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4636008"/>
            <a:ext cx="100584" cy="100584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52728" y="4562856"/>
            <a:ext cx="443484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203247"/>
                </a:solidFill>
                <a:latin typeface="Aptos"/>
              </a:rPr>
              <a:t>Clinical benefit or global optimality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444752"/>
            <a:ext cx="5257800" cy="43434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37360"/>
            <a:ext cx="4572000" cy="512064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Next steps before real deployment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10528" y="2496312"/>
            <a:ext cx="100584" cy="100584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9128" y="2423160"/>
            <a:ext cx="443484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DCE7EF"/>
                </a:solidFill>
                <a:latin typeface="Aptos"/>
              </a:rPr>
              <a:t>Use licensed current regional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0528" y="3209544"/>
            <a:ext cx="100584" cy="100584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9128" y="3136391"/>
            <a:ext cx="443484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DCE7EF"/>
                </a:solidFill>
                <a:latin typeface="Aptos"/>
              </a:rPr>
              <a:t>Validate by time and geography; assess bias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10528" y="3922776"/>
            <a:ext cx="100584" cy="100584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39128" y="3849624"/>
            <a:ext cx="443484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DCE7EF"/>
                </a:solidFill>
                <a:latin typeface="Aptos"/>
              </a:rPr>
              <a:t>Calibrate roads, costs, and constraints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0528" y="4636008"/>
            <a:ext cx="100584" cy="100584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9128" y="4562856"/>
            <a:ext cx="443484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200" b="0">
                <a:solidFill>
                  <a:srgbClr val="DCE7EF"/>
                </a:solidFill>
                <a:latin typeface="Aptos"/>
              </a:rPr>
              <a:t>Review with planners and communities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005840"/>
            <a:ext cx="1042416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100" b="1">
                <a:solidFill>
                  <a:srgbClr val="79D4C7"/>
                </a:solidFill>
                <a:latin typeface="Aptos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45920"/>
            <a:ext cx="10241280" cy="10972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A working planning prototype—
not a planning authority.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37560"/>
            <a:ext cx="9966960" cy="9144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800" b="0">
                <a:solidFill>
                  <a:srgbClr val="DCE7EF"/>
                </a:solidFill>
                <a:latin typeface="Aptos"/>
              </a:rPr>
              <a:t>It demonstrates how GIS, forecasting, feasibility screening, and optimization connect into one reviewable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709160"/>
            <a:ext cx="9875520" cy="749808"/>
          </a:xfrm>
          <a:prstGeom prst="roundRect">
            <a:avLst/>
          </a:prstGeom>
          <a:solidFill>
            <a:srgbClr val="19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928616"/>
            <a:ext cx="9326880" cy="301752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1">
                <a:solidFill>
                  <a:srgbClr val="FFE0A3"/>
                </a:solidFill>
                <a:latin typeface="Aptos"/>
              </a:rPr>
              <a:t>Synthetic Chennai-area results must be replaced with validated regional data before policy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80760"/>
            <a:ext cx="9144000" cy="274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1">
                <a:solidFill>
                  <a:srgbClr val="79D4C7"/>
                </a:solidFill>
                <a:latin typeface="Aptos"/>
              </a:rPr>
              <a:t>Thank you  | 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